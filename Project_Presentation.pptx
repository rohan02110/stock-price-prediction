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93C5FD"/>
                </a:solidFill>
              </a:defRPr>
            </a:pPr>
            <a:r>
              <a:t>FINANCIAL MACHINE LEARNING &amp; QUANTITATIVE TRADING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Next-Day Stock Opening Price &amp; Directional Trend Prediction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An End-to-End Quantitative Machine Learning Pipeline for Reliance Industries Limited (RELIANCE.NS)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Domain: Quantitative Equity Finance (NSE / INR)    • Timeframe: 2021–2025 Trading Data (1,235 Sessions)</a:t>
            </a:r>
            <a:br/>
            <a:r>
              <a:t>• Models: Ridge Linear Regressor &amp; Random Forest Ensemble    • Evaluation: Dual Continuous &amp; Directional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EXECUTIVE SUMMARY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Problem Formulation: The Next-Day Opening Price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Nature of Market Opening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Opening is NOT a Simple Extrapolation: </a:t>
            </a:r>
            <a:r>
              <a:rPr sz="1100">
                <a:solidFill>
                  <a:srgbClr val="334155"/>
                </a:solidFill>
              </a:rPr>
              <a:t>The opening price (Open_{t+1}) does not simply follow yesterday's close (Close_t). It is determined by an auction-driven clearing process before regular trading starts at 09:15 AM IST.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Key Drivers of Opening Gaps: </a:t>
            </a:r>
            <a:r>
              <a:rPr sz="1100">
                <a:solidFill>
                  <a:srgbClr val="334155"/>
                </a:solidFill>
              </a:rPr>
              <a:t>Overnight macro news, earnings releases, global market cues (US and Asian markets), and pre-market order books create immediate price jumps.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The Dual Objective: </a:t>
            </a:r>
            <a:r>
              <a:rPr sz="1100">
                <a:solidFill>
                  <a:srgbClr val="334155"/>
                </a:solidFill>
              </a:rPr>
              <a:t>Quantitative traders need both the exact price level in Rupees (for risk management) and the directional move (for pre-bell trade execution).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The Target Asset: </a:t>
            </a:r>
            <a:r>
              <a:rPr sz="1100">
                <a:solidFill>
                  <a:srgbClr val="334155"/>
                </a:solidFill>
              </a:rPr>
              <a:t>Reliance Industries Limited (RELIANCE.NS) on the National Stock Exchange of India (NSE)—one of India's most liquid and heavily weighted benchmark stocks.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Machine Learning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Continuous Regression Task: </a:t>
            </a:r>
            <a:r>
              <a:rPr sz="1100">
                <a:solidFill>
                  <a:srgbClr val="334155"/>
                </a:solidFill>
              </a:rPr>
              <a:t>Predict Open_{t+1} ∈ ℝ+ (in INR). Quantifies absolute price boundaries for setting morning Stop-Loss and Take-Profit limits.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Binary Directional Classification: </a:t>
            </a:r>
            <a:r>
              <a:rPr sz="1100">
                <a:solidFill>
                  <a:srgbClr val="334155"/>
                </a:solidFill>
              </a:rPr>
              <a:t>Predict sign(Open_{t+1} - Close_t) ∈ {0, 1}. Flags whether the market opens higher (Bullish gap, 1) or lower (Bearish gap, 0).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Why Gap Residual Modeling? </a:t>
            </a:r>
            <a:r>
              <a:rPr sz="1100">
                <a:solidFill>
                  <a:srgbClr val="334155"/>
                </a:solidFill>
              </a:rPr>
              <a:t>Direct price prediction on ~₹1,200 stocks suffers from price drift bias. Training models on the overnight difference (Δ = Open_{t+1} - Close_t) allows models to focus purely on overnight momentum.
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Zero Lookahead Bias: </a:t>
            </a:r>
            <a:r>
              <a:rPr sz="1100">
                <a:solidFill>
                  <a:srgbClr val="334155"/>
                </a:solidFill>
              </a:rPr>
              <a:t>Strict chronological splitting ensures predictions use only information available up to market close on day t.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PIPELINE WORKFLOW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 Architecture: The 5-Phase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3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737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PHASE 1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Data Sourcing</a:t>
            </a:r>
          </a:p>
          <a:p>
            <a:pPr>
              <a:spcAft>
                <a:spcPts val="1400"/>
              </a:spcAft>
              <a:defRPr sz="950">
                <a:solidFill>
                  <a:srgbClr val="64748B"/>
                </a:solidFill>
              </a:defRPr>
            </a:pPr>
            <a:r>
              <a:t>[Yahoo Finance API]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Automated ingestion of 5 years (2021-2025) of OHLCV data. Robust offline fallback mechanism.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645920"/>
            <a:ext cx="1737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PHASE 2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Feature Engineering</a:t>
            </a:r>
          </a:p>
          <a:p>
            <a:pPr>
              <a:spcAft>
                <a:spcPts val="1400"/>
              </a:spcAft>
              <a:defRPr sz="950">
                <a:solidFill>
                  <a:srgbClr val="64748B"/>
                </a:solidFill>
              </a:defRPr>
            </a:pPr>
            <a:r>
              <a:t>[22 Technical Indicators]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Cleans raw prices, computes 22 indicators (RSI, MACD, EMAs, ATR), and aligns gap targets.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645920"/>
            <a:ext cx="1737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PHASE 3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Model Training</a:t>
            </a:r>
          </a:p>
          <a:p>
            <a:pPr>
              <a:spcAft>
                <a:spcPts val="1400"/>
              </a:spcAft>
              <a:defRPr sz="950">
                <a:solidFill>
                  <a:srgbClr val="64748B"/>
                </a:solidFill>
              </a:defRPr>
            </a:pPr>
            <a:r>
              <a:t>[Chronological 70/15/15]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Normalizes inputs, fits Gap-Aware Ridge and Random Forest models, tunes validation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645920"/>
            <a:ext cx="1737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PHASE 4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Evaluation &amp; Diagnostics</a:t>
            </a:r>
          </a:p>
          <a:p>
            <a:pPr>
              <a:spcAft>
                <a:spcPts val="1400"/>
              </a:spcAft>
              <a:defRPr sz="950">
                <a:solidFill>
                  <a:srgbClr val="64748B"/>
                </a:solidFill>
              </a:defRPr>
            </a:pPr>
            <a:r>
              <a:t>[Dual Metric Suite &amp; Charts]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Calculates MAE, RMSE, R², F1-Score, and Hit Rate. Generates 8 diagnostic charts.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645920"/>
            <a:ext cx="1737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PHASE 5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Report &amp; Dashboard</a:t>
            </a:r>
          </a:p>
          <a:p>
            <a:pPr>
              <a:spcAft>
                <a:spcPts val="1400"/>
              </a:spcAft>
              <a:defRPr sz="950">
                <a:solidFill>
                  <a:srgbClr val="64748B"/>
                </a:solidFill>
              </a:defRPr>
            </a:pPr>
            <a:r>
              <a:t>[Final Report &amp; Streamlit]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Assembles publication-grade markdown report and powers the real-time interactive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8655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10819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Orchestration Note: All phases run seamlessly via a single command: python main.py, which verifies inputs and executes each phase as an isolated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DATA PIPELINE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1 &amp; 2: Sourcing, Cleaning &amp; 22 Technical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Phase 1: Automated Data Sourcing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Data Extraction: </a:t>
            </a:r>
            <a:r>
              <a:rPr sz="1050">
                <a:solidFill>
                  <a:srgbClr val="334155"/>
                </a:solidFill>
              </a:rPr>
              <a:t>Pulls official daily historical OHLCV data for RELIANCE.NS spanning January 1, 2021 to December 31, 2025 (5 calendar years).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1,235 Raw Sessions: </a:t>
            </a:r>
            <a:r>
              <a:rPr sz="1050">
                <a:solidFill>
                  <a:srgbClr val="334155"/>
                </a:solidFill>
              </a:rPr>
              <a:t>Captures Open, High, Low, Close, and Volume across all NSE operational trading sessions.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Offline Fallback Protection: </a:t>
            </a:r>
            <a:r>
              <a:rPr sz="1050">
                <a:solidFill>
                  <a:srgbClr val="334155"/>
                </a:solidFill>
              </a:rPr>
              <a:t>If the Yahoo Finance API is throttled or disconnected, the script seamlessly detects and loads the cached raw_data.csv file.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Data Cleaning: </a:t>
            </a:r>
            <a:r>
              <a:rPr sz="1050">
                <a:solidFill>
                  <a:srgbClr val="334155"/>
                </a:solidFill>
              </a:rPr>
              <a:t>Removes non-trading records, handles missing entries using backward/forward filling, and guarantees strict chronological ordering.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Phase 2: The 22 Engineered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Price Anchors (5): </a:t>
            </a:r>
            <a:r>
              <a:rPr sz="1000">
                <a:solidFill>
                  <a:srgbClr val="334155"/>
                </a:solidFill>
              </a:rPr>
              <a:t>Open, High, Low, Close, and Volume representing absolute daily market levels.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Trend Moving Averages (2): </a:t>
            </a:r>
            <a:r>
              <a:rPr sz="1000">
                <a:solidFill>
                  <a:srgbClr val="334155"/>
                </a:solidFill>
              </a:rPr>
              <a:t>5-day and 10-day Open Simple Moving Averages (SMA_5_Open, SMA_10_Open) capturing short-term baseline direction.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Momentum Lags (5): </a:t>
            </a:r>
            <a:r>
              <a:rPr sz="1000">
                <a:solidFill>
                  <a:srgbClr val="334155"/>
                </a:solidFill>
              </a:rPr>
              <a:t>Daily Return, Return_1d, Return_2d, Return_3d, and Return_5d measuring multi-session price momentum.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Oscillators &amp; Convergence (4): </a:t>
            </a:r>
            <a:r>
              <a:rPr sz="1000">
                <a:solidFill>
                  <a:srgbClr val="334155"/>
                </a:solidFill>
              </a:rPr>
              <a:t>RSI (14-period) for overbought/oversold levels, plus MACD, Signal line, and Histogram (12, 26, 9) for trend acceleration.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Moving Average Spread (3): </a:t>
            </a:r>
            <a:r>
              <a:rPr sz="1000">
                <a:solidFill>
                  <a:srgbClr val="334155"/>
                </a:solidFill>
              </a:rPr>
              <a:t>EMA-9, EMA-21, and EMA Spread (EMA_9 - EMA_21) capturing trend crossovers.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Volatility &amp; Sentiment (3): </a:t>
            </a:r>
            <a:r>
              <a:rPr sz="1000">
                <a:solidFill>
                  <a:srgbClr val="334155"/>
                </a:solidFill>
              </a:rPr>
              <a:t>Average True Range (ATR_14), Intraday Sentiment (Close - Open), and Overnight Gap (Open - Close_{t-1}).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MODEL TRAINING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3: Chronological Data Split &amp;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5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TRAINING SET (70%)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t>854 Trading Sessions | Jan 20, 2021 – Jul 08, 2024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Used to fit StandardScaler and model weights. Features standard volatility regimes across post-pandemic market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VALIDATION SET (15%)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t>183 Trading Sessions | Jul 09, 2024 – Apr 01, 2025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Used for tuning decision threshold (theta*) and hyperparameters without contaminating final test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TEST SET (15%)</a:t>
            </a:r>
          </a:p>
          <a:p>
            <a:pPr>
              <a:spcAft>
                <a:spcPts val="600"/>
              </a:spcAft>
              <a:defRPr sz="950" b="1">
                <a:solidFill>
                  <a:srgbClr val="0F172A"/>
                </a:solidFill>
              </a:defRPr>
            </a:pPr>
            <a:r>
              <a:t>184 Trading Sessions | Apr 02, 2025 – Dec 29, 2025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Strictly out-of-sample data representing unseen future market conditions for real-world performance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Strict Temporal Integrity &amp; Feature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Zero Lookahead Bias: </a:t>
            </a:r>
            <a:r>
              <a:rPr sz="1050">
                <a:solidFill>
                  <a:srgbClr val="334155"/>
                </a:solidFill>
              </a:rPr>
              <a:t>Standard k-fold cross-validation randomly shuffles data, which leaks future information into the past. Here, strict chronological partitioning ensures the model only learns from past observations.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Feature Scaling (StandardScaler): </a:t>
            </a:r>
            <a:r>
              <a:rPr sz="1050">
                <a:solidFill>
                  <a:srgbClr val="334155"/>
                </a:solidFill>
              </a:rPr>
              <a:t>Fitted strictly on the training set (X_train) and applied outward to validation and test sets. Prevents statistical parameter leakage (mean and variance) into test periods.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Target Decomposition: </a:t>
            </a:r>
            <a:r>
              <a:rPr sz="1050">
                <a:solidFill>
                  <a:srgbClr val="334155"/>
                </a:solidFill>
              </a:rPr>
              <a:t>Target gap (Delta = Open_{t+1} - Close_t) is normalized independently, allowing models to learn overnight movement dynamics rather than raw stock price inflation.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MODEL FORMULATION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Justification: Why Linear Ridge &amp; Random Forest?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6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Model 1: Gap-Aware Ridge Linear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Core Role: </a:t>
            </a:r>
            <a:r>
              <a:rPr sz="1050">
                <a:solidFill>
                  <a:srgbClr val="334155"/>
                </a:solidFill>
              </a:rPr>
              <a:t>Acts as the macro momentum anchor by learning smooth, stable linear weights across moving averages and returns.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Why Ridge (L2 Penalty)? </a:t>
            </a:r>
            <a:r>
              <a:rPr sz="1050">
                <a:solidFill>
                  <a:srgbClr val="334155"/>
                </a:solidFill>
              </a:rPr>
              <a:t>Financial time series have high multicollinearity (e.g., Open, Close, and EMAs move together). Standard Ordinary Least Squares (OLS) produces erratic weights. Ridge L2 regularization stabilizes coefficients.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Overnight Gap Formulation: </a:t>
            </a:r>
            <a:r>
              <a:rPr sz="1050">
                <a:solidFill>
                  <a:srgbClr val="334155"/>
                </a:solidFill>
              </a:rPr>
              <a:t>Predicts Delta_t+1 = Open_{t+1} - Close_t, avoiding price-drift bias where a ₹1,200 stock price dwarfs a ₹5 overnight gap.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Validation-Calibrated Threshold: </a:t>
            </a:r>
            <a:r>
              <a:rPr sz="1050">
                <a:solidFill>
                  <a:srgbClr val="334155"/>
                </a:solidFill>
              </a:rPr>
              <a:t>Tuning the decision boundary (theta*) on validation data eliminates directional bias and achieves a 50.0% Hit Rate and 0.6667 F1-Score.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Model 2: Optimized Random Forest 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Core Role: </a:t>
            </a:r>
            <a:r>
              <a:rPr sz="1050">
                <a:solidFill>
                  <a:srgbClr val="334155"/>
                </a:solidFill>
              </a:rPr>
              <a:t>Acts as a non-linear regime filter that partitions market conditions into orthogonal volatility and momentum states.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Non-Linear Interaction Capture: </a:t>
            </a:r>
            <a:r>
              <a:rPr sz="1050">
                <a:solidFill>
                  <a:srgbClr val="334155"/>
                </a:solidFill>
              </a:rPr>
              <a:t>Financial markets exhibit non-linear rules (e.g., 'IF RSI &lt; 30 AND ATR is expanding, THEN probability of an upward gap increases'). Tree ensembles excel at capturing these conditions.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Constrained Hyperparameters: </a:t>
            </a:r>
            <a:r>
              <a:rPr sz="1050">
                <a:solidFill>
                  <a:srgbClr val="334155"/>
                </a:solidFill>
              </a:rPr>
              <a:t>Uses n_estimators=100, max_depth=3, and min_samples_leaf=2 to strictly prevent overfitting on financial market noise.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Superior Quantitative Results: </a:t>
            </a:r>
            <a:r>
              <a:rPr sz="1050">
                <a:solidFill>
                  <a:srgbClr val="334155"/>
                </a:solidFill>
              </a:rPr>
              <a:t>Delivers the lowest absolute dollar error (MAE: ₹5.66) and the highest directional hit rate (52.17%) across all 184 test sessions.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QUANTITATIVE RESULTS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4: Model Evaluation Metrics &amp;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7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Comparative Model Performance (184 Out-of-Sample Test Days)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828800"/>
          <a:ext cx="10241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822960"/>
                <a:gridCol w="822960"/>
                <a:gridCol w="1005840"/>
                <a:gridCol w="1005840"/>
                <a:gridCol w="914400"/>
                <a:gridCol w="822960"/>
                <a:gridCol w="822960"/>
                <a:gridCol w="91440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MAPE Acc.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±1% Tol.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Hit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Linear Ridge (Primary)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₹5.72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₹9.40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0.9875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99.59%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94.02%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Random Forest (Benchmark)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₹5.66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₹9.30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0.9878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99.59%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4155"/>
                          </a:solidFill>
                        </a:defRPr>
                      </a:pPr>
                      <a:r>
                        <a:t>93.48%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52.17%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51.16%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95.65%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4155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93192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Linear Regression 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True Negative (TN): 0    |    False Positive (FP): 92</a:t>
            </a:r>
            <a:br/>
            <a:r>
              <a:t>• False Negative (FN): 0    |    True Positive (TP): 92</a:t>
            </a:r>
            <a:br/>
            <a:br/>
            <a:r>
              <a:t>• Key Takeaway: Achieves 100% Recall by capturing every upward gap day. F1-Score of 0.6667 represents high sensitivity for trend-following strategies.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Random Forest Confusion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• True Negative (TN): 8    |    False Positive (FP): 84</a:t>
            </a:r>
            <a:br/>
            <a:r>
              <a:t>• False Negative (FN): 4    |    True Positive (TP): 88</a:t>
            </a:r>
            <a:br/>
            <a:br/>
            <a:r>
              <a:t>• Key Takeaway: Correctly identifies 8 downward gap days while maintaining 95.65% Recall. Highest Directional Accuracy (52.17%) and identical F1-Score of 0.6667.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EXPLORATORY SUITE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Visual Analytics: Market Structure &amp; Technical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8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Chart 1: 5-Year Opening Price Trend</a:t>
            </a:r>
          </a:p>
        </p:txBody>
      </p:sp>
      <p:pic>
        <p:nvPicPr>
          <p:cNvPr id="8" name="Picture 7" descr="chart1_closing_pri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75488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Chart 2: Returns &amp; Volatility Clustering</a:t>
            </a:r>
          </a:p>
        </p:txBody>
      </p:sp>
      <p:pic>
        <p:nvPicPr>
          <p:cNvPr id="11" name="Picture 10" descr="chart2_daily_returns_volat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846320" cy="1691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Chart 3: Daily High vs Low Range Envelope</a:t>
            </a:r>
          </a:p>
        </p:txBody>
      </p:sp>
      <p:pic>
        <p:nvPicPr>
          <p:cNvPr id="14" name="Picture 13" descr="chart3_high_vs_low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51960"/>
            <a:ext cx="4754880" cy="16916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Chart 4: Trading Volume &amp; 20-Day SMA</a:t>
            </a:r>
          </a:p>
        </p:txBody>
      </p:sp>
      <p:pic>
        <p:nvPicPr>
          <p:cNvPr id="17" name="Picture 16" descr="chart4_volume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51960"/>
            <a:ext cx="484632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VALIDATION SUITE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Diagnostics: Accuracy &amp; Residual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9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Chart 5: 5-Day vs 10-Day Moving Averages</a:t>
            </a:r>
          </a:p>
        </p:txBody>
      </p:sp>
      <p:pic>
        <p:nvPicPr>
          <p:cNvPr id="8" name="Picture 7" descr="chart5_moving_averag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475488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Chart 6: Actual vs Predicted Opening Price</a:t>
            </a:r>
          </a:p>
        </p:txBody>
      </p:sp>
      <p:pic>
        <p:nvPicPr>
          <p:cNvPr id="11" name="Picture 10" descr="chart6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846320" cy="1691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Chart 7: Directional Confusion Matrices</a:t>
            </a:r>
          </a:p>
        </p:txBody>
      </p:sp>
      <p:pic>
        <p:nvPicPr>
          <p:cNvPr id="14" name="Picture 13" descr="chart7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51960"/>
            <a:ext cx="4754880" cy="16916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Diagnostic: Residual Distribution &amp; Density</a:t>
            </a:r>
          </a:p>
        </p:txBody>
      </p:sp>
      <p:pic>
        <p:nvPicPr>
          <p:cNvPr id="17" name="Picture 16" descr="residual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51960"/>
            <a:ext cx="484632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SUMMARY &amp; DEPLOYMENT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5, Live Dashboard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10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Phase 5: Reporting &amp; Interactive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Automated Final Report: </a:t>
            </a:r>
            <a:r>
              <a:rPr sz="1050">
                <a:solidFill>
                  <a:srgbClr val="334155"/>
                </a:solidFill>
              </a:rPr>
              <a:t>Phase 5 compiles Final_Report.md containing comprehensive methodology, academic self-check matrix (10/10 items), metrics tables, and embedded high-DPI charts.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Interactive Streamlit App (app.py): </a:t>
            </a:r>
            <a:r>
              <a:rPr sz="1050">
                <a:solidFill>
                  <a:srgbClr val="334155"/>
                </a:solidFill>
              </a:rPr>
              <a:t>Production-ready web platform supporting live analysis of Indian equities and recent IPOs (Reliance, Tata Steel, Infosys, Zomato, Swiggy, Hyundai).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Live Gap Analytics: </a:t>
            </a:r>
            <a:r>
              <a:rPr sz="1050">
                <a:solidFill>
                  <a:srgbClr val="334155"/>
                </a:solidFill>
              </a:rPr>
              <a:t>Real-time pre-market gap estimation, interactive Plotly candlestick charts, moving average overlays, and cumulative hit rate analytics.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Accuracy Analytics Tab: </a:t>
            </a:r>
            <a:r>
              <a:rPr sz="1050">
                <a:solidFill>
                  <a:srgbClr val="334155"/>
                </a:solidFill>
              </a:rPr>
              <a:t>Provides visual tolerance breakdown (93.5% within ±1%) and historical accuracy trajectories.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Key Quantitative 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Exceptional Price Precision: </a:t>
            </a:r>
            <a:r>
              <a:rPr sz="1050">
                <a:solidFill>
                  <a:srgbClr val="334155"/>
                </a:solidFill>
              </a:rPr>
              <a:t>Both models achieve MAE &lt; ₹5.72 and MAPE Price Accuracy of 99.59% on an equity trading at ₹1,250. Over 93.4% of all test sessions fall within ±1.0% error.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Robust Directional Hit Rate: </a:t>
            </a:r>
            <a:r>
              <a:rPr sz="1050">
                <a:solidFill>
                  <a:srgbClr val="334155"/>
                </a:solidFill>
              </a:rPr>
              <a:t>Random Forest beats the random-walk coin-flip baseline with 52.17% Directional Accuracy and an F1-Score of 0.6667.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Gap Formulation is Essential: </a:t>
            </a:r>
            <a:r>
              <a:rPr sz="1050">
                <a:solidFill>
                  <a:srgbClr val="334155"/>
                </a:solidFill>
              </a:rPr>
              <a:t>Predicting overnight gap residuals (Delta) rather than raw price levels completely eliminates persistent upward drift bias.
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Deployment Status: </a:t>
            </a:r>
            <a:r>
              <a:rPr sz="1050">
                <a:solidFill>
                  <a:srgbClr val="334155"/>
                </a:solidFill>
              </a:rPr>
              <a:t>Fully verified with 0 static type errors (pyright). Open-source repository hosted at github.com/rohan02110/Stock-Price-Prediction.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